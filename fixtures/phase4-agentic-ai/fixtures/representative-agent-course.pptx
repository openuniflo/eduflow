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D55"/>
                </a:solidFill>
                <a:latin typeface="Noto Sans CJK SC"/>
              </a:rPr>
              <a:t>Agentic AI 代表性 PPTX 解析样本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141414"/>
                </a:solidFill>
                <a:latin typeface="Noto Sans CJK SC"/>
              </a:rPr>
              <a:t>EduFlow Phase 4.1 Parser Fixture</a:t>
            </a:r>
          </a:p>
          <a:p>
            <a:pPr/>
            <a:r>
              <a:rPr sz="2400" b="0">
                <a:solidFill>
                  <a:srgbClr val="141414"/>
                </a:solidFill>
                <a:latin typeface="Noto Sans CJK SC"/>
              </a:rPr>
              <a:t>测试：slide title、正文、列表、表格、图片、代码片段、页脚。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0">
                <a:solidFill>
                  <a:srgbClr val="141414"/>
                </a:solidFill>
                <a:latin typeface="Noto Sans CJK SC"/>
              </a:rPr>
              <a:t>source: generated fixture / canonical corpus: AI-Agents-in-Depth-zh-CN-v1.4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D55"/>
                </a:solidFill>
                <a:latin typeface="Noto Sans CJK SC"/>
              </a:rPr>
              <a:t>1. Agent = LLM + 上下文 + 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LLM：决策核心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上下文：观察与历史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工具：观察 / 行动接口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Harness：约束、验证、纠正</a:t>
            </a:r>
          </a:p>
        </p:txBody>
      </p:sp>
      <p:pic>
        <p:nvPicPr>
          <p:cNvPr id="4" name="Picture 3" descr="agent-environment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26308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000" b="0">
                <a:solidFill>
                  <a:srgbClr val="141414"/>
                </a:solidFill>
                <a:latin typeface="Noto Sans CJK SC"/>
              </a:rPr>
              <a:t>slide 2 / image provenance should be retained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D55"/>
                </a:solidFill>
                <a:latin typeface="Noto Sans CJK SC"/>
              </a:rPr>
              <a:t>2. ReAct 循环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430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Agent 看到什么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输出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任务 + 历史轨迹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下一步计划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Acting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工具定义 + 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tool_calls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Observing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工具执行结果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新的上下文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完整轨迹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14"/>
                          </a:solidFill>
                          <a:latin typeface="Noto Sans CJK SC"/>
                        </a:rPr>
                        <a:t>最终答案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141414"/>
                </a:solidFill>
                <a:latin typeface="Noto Sans CJK SC"/>
              </a:rPr>
              <a:t>测试点：表格读取、单元格顺序、slide number、中文与英文术语混排。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D55"/>
                </a:solidFill>
                <a:latin typeface="Noto Sans CJK SC"/>
              </a:rPr>
              <a:t>3. Harness 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核心职责：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build_context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constrain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verify</a:t>
            </a:r>
          </a:p>
          <a:p>
            <a:pPr/>
            <a:r>
              <a:rPr sz="2200" b="0">
                <a:solidFill>
                  <a:srgbClr val="141414"/>
                </a:solidFill>
                <a:latin typeface="Noto Sans CJK SC"/>
              </a:rPr>
              <a:t>•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430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141414"/>
                </a:solidFill>
                <a:latin typeface="Noto Sans CJK SC"/>
              </a:rPr>
              <a:t>代码片段：</a:t>
            </a:r>
          </a:p>
          <a:p>
            <a:pPr/>
            <a:r>
              <a:rPr sz="2000" b="0">
                <a:solidFill>
                  <a:srgbClr val="141414"/>
                </a:solidFill>
                <a:latin typeface="Noto Sans CJK SC"/>
              </a:rPr>
              <a:t>decision = model(context)</a:t>
            </a:r>
          </a:p>
          <a:p>
            <a:pPr/>
            <a:r>
              <a:rPr sz="2000" b="0">
                <a:solidFill>
                  <a:srgbClr val="141414"/>
                </a:solidFill>
                <a:latin typeface="Noto Sans CJK SC"/>
              </a:rPr>
              <a:t>result = run_tool(call)</a:t>
            </a:r>
          </a:p>
          <a:p>
            <a:pPr/>
            <a:r>
              <a:rPr sz="2000" b="0">
                <a:solidFill>
                  <a:srgbClr val="141414"/>
                </a:solidFill>
                <a:latin typeface="Noto Sans CJK SC"/>
              </a:rPr>
              <a:t>verify(result)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41414"/>
                </a:solidFill>
                <a:latin typeface="Noto Sans CJK SC"/>
              </a:rPr>
              <a:t>测试点：两栏排版、多文本框顺序、代码样式是否能保留为 content block。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D55"/>
                </a:solidFill>
                <a:latin typeface="Noto Sans CJK SC"/>
              </a:rPr>
              <a:t>4. 解析验收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141414"/>
                </a:solidFill>
                <a:latin typeface="Noto Sans CJK SC"/>
              </a:rPr>
              <a:t>解析成功不等于抽取知识成功。</a:t>
            </a:r>
          </a:p>
          <a:p>
            <a:pPr/>
            <a:r>
              <a:rPr sz="2400" b="0">
                <a:solidFill>
                  <a:srgbClr val="141414"/>
                </a:solidFill>
                <a:latin typeface="Noto Sans CJK SC"/>
              </a:rPr>
              <a:t>4.1 只验证 CourseMaterial：slide、block、order、source location。</a:t>
            </a:r>
          </a:p>
          <a:p>
            <a:pPr/>
            <a:r>
              <a:rPr sz="2400" b="0">
                <a:solidFill>
                  <a:srgbClr val="141414"/>
                </a:solidFill>
                <a:latin typeface="Noto Sans CJK SC"/>
              </a:rPr>
              <a:t>4.2 才开始 KnowledgeCandidate、alias、prerequisite 和 DAG。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